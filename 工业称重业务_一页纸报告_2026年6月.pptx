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3600" b="1">
                <a:solidFill>
                  <a:srgbClr val="FFFFFF"/>
                </a:solidFill>
              </a:defRPr>
            </a:pPr>
            <a:r>
              <a:t>工业称重业务 · 宏观经济与政策洞察</a:t>
            </a:r>
          </a:p>
          <a:p>
            <a:pPr>
              <a:spcAft>
                <a:spcPts val="200"/>
              </a:spcAft>
              <a:defRPr sz="3600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97CBFF"/>
                </a:solidFill>
              </a:defRPr>
            </a:pPr>
            <a:r>
              <a:t>2026年6月 | 基于四维洞察的战略建议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2743200" cy="36576"/>
          </a:xfrm>
          <a:prstGeom prst="rect">
            <a:avLst/>
          </a:prstGeom>
          <a:solidFill>
            <a:srgbClr val="56A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0BCD0"/>
                </a:solidFill>
              </a:defRPr>
            </a:pPr>
            <a:r>
              <a:t>分析维度：宏观三驾马车 → 上游原材料与价格 → 省市政策机遇</a:t>
            </a:r>
          </a:p>
          <a:p>
            <a:pPr>
              <a:spcAft>
                <a:spcPts val="200"/>
              </a:spcAft>
              <a:defRPr sz="1100">
                <a:solidFill>
                  <a:srgbClr val="A0BCD0"/>
                </a:solidFill>
              </a:defRPr>
            </a:pPr>
            <a:r>
              <a:t>       → 头部竞争格局 → 3C行业机会 → 战略建议</a:t>
            </a:r>
          </a:p>
          <a:p>
            <a:pPr>
              <a:spcAft>
                <a:spcPts val="200"/>
              </a:spcAft>
              <a:defRPr sz="1100">
                <a:solidFill>
                  <a:srgbClr val="A0BCD0"/>
                </a:solidFill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0BCD0"/>
                </a:solidFill>
              </a:defRPr>
            </a:pPr>
            <a:r>
              <a:t>数据来源：国家统计局 · 工信部 · 各省政府官网 · 新华社 · 人民日报</a:t>
            </a:r>
          </a:p>
          <a:p>
            <a:pPr>
              <a:spcAft>
                <a:spcPts val="200"/>
              </a:spcAft>
              <a:defRPr sz="1100">
                <a:solidFill>
                  <a:srgbClr val="A0BCD0"/>
                </a:solidFill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执行摘要：核心发现</a:t>
            </a:r>
          </a:p>
          <a:p>
            <a:pPr algn="l">
              <a:defRPr sz="1300">
                <a:solidFill>
                  <a:srgbClr val="97CBFF"/>
                </a:solidFill>
              </a:defRPr>
            </a:pPr>
            <a:r>
              <a:t>基于六大维度的关键洞察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56A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B6D"/>
                </a:solidFill>
              </a:defRPr>
            </a:pPr>
            <a:r>
              <a:t>工业称重业务 | 宏观经济与政策报告 | 2026年6月 |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1188720"/>
          </a:xfrm>
          <a:prstGeom prst="roundRect">
            <a:avLst/>
          </a:prstGeom>
          <a:solidFill>
            <a:srgbClr val="F4F8F0"/>
          </a:solidFill>
          <a:ln w="6350">
            <a:solidFill>
              <a:srgbClr val="E5E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4696"/>
                </a:solidFill>
              </a:defRPr>
            </a:pPr>
            <a:r>
              <a:t>50.3</a:t>
            </a:r>
          </a:p>
          <a:p>
            <a:pPr algn="ctr">
              <a:defRPr sz="900">
                <a:solidFill>
                  <a:srgbClr val="5F6B6D"/>
                </a:solidFill>
              </a:defRPr>
            </a:pPr>
            <a:r>
              <a:t>制造业PMI</a:t>
            </a:r>
            <a:br/>
            <a:r>
              <a:t>连续2月站上荣枯线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371600"/>
            <a:ext cx="1645920" cy="1188720"/>
          </a:xfrm>
          <a:prstGeom prst="roundRect">
            <a:avLst/>
          </a:prstGeom>
          <a:solidFill>
            <a:srgbClr val="F4F8F0"/>
          </a:solidFill>
          <a:ln w="6350">
            <a:solidFill>
              <a:srgbClr val="E5E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4696"/>
                </a:solidFill>
              </a:defRPr>
            </a:pPr>
            <a:r>
              <a:t>+4.1%</a:t>
            </a:r>
          </a:p>
          <a:p>
            <a:pPr algn="ctr">
              <a:defRPr sz="900">
                <a:solidFill>
                  <a:srgbClr val="5F6B6D"/>
                </a:solidFill>
              </a:defRPr>
            </a:pPr>
            <a:r>
              <a:t>规上工业增加值</a:t>
            </a:r>
            <a:br/>
            <a:r>
              <a:t>4月当月同比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1645920" cy="1188720"/>
          </a:xfrm>
          <a:prstGeom prst="roundRect">
            <a:avLst/>
          </a:prstGeom>
          <a:solidFill>
            <a:srgbClr val="F4F8F0"/>
          </a:solidFill>
          <a:ln w="6350">
            <a:solidFill>
              <a:srgbClr val="E5E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BB4A4A"/>
                </a:solidFill>
              </a:defRPr>
            </a:pPr>
            <a:r>
              <a:t>+18.7%</a:t>
            </a:r>
          </a:p>
          <a:p>
            <a:pPr algn="ctr">
              <a:defRPr sz="900">
                <a:solidFill>
                  <a:srgbClr val="5F6B6D"/>
                </a:solidFill>
              </a:defRPr>
            </a:pPr>
            <a:r>
              <a:t>出口同比增速</a:t>
            </a:r>
            <a:br/>
            <a:r>
              <a:t>4月当月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1645920" cy="1188720"/>
          </a:xfrm>
          <a:prstGeom prst="roundRect">
            <a:avLst/>
          </a:prstGeom>
          <a:solidFill>
            <a:srgbClr val="F4F8F0"/>
          </a:solidFill>
          <a:ln w="6350">
            <a:solidFill>
              <a:srgbClr val="E5E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BB4A4A"/>
                </a:solidFill>
              </a:defRPr>
            </a:pPr>
            <a:r>
              <a:t>+2.8%</a:t>
            </a:r>
          </a:p>
          <a:p>
            <a:pPr algn="ctr">
              <a:defRPr sz="900">
                <a:solidFill>
                  <a:srgbClr val="5F6B6D"/>
                </a:solidFill>
              </a:defRPr>
            </a:pPr>
            <a:r>
              <a:t>PPI同比</a:t>
            </a:r>
            <a:br/>
            <a:r>
              <a:t>45个月新高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1645920" cy="1188720"/>
          </a:xfrm>
          <a:prstGeom prst="roundRect">
            <a:avLst/>
          </a:prstGeom>
          <a:solidFill>
            <a:srgbClr val="F4F8F0"/>
          </a:solidFill>
          <a:ln w="6350">
            <a:solidFill>
              <a:srgbClr val="E5E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4696"/>
                </a:solidFill>
              </a:defRPr>
            </a:pPr>
            <a:r>
              <a:t>+11.5%</a:t>
            </a:r>
          </a:p>
          <a:p>
            <a:pPr algn="ctr">
              <a:defRPr sz="900">
                <a:solidFill>
                  <a:srgbClr val="5F6B6D"/>
                </a:solidFill>
              </a:defRPr>
            </a:pPr>
            <a:r>
              <a:t>设备工器具购置</a:t>
            </a:r>
            <a:br/>
            <a:r>
              <a:t>设备更新周期启动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371600"/>
            <a:ext cx="1645920" cy="1188720"/>
          </a:xfrm>
          <a:prstGeom prst="roundRect">
            <a:avLst/>
          </a:prstGeom>
          <a:solidFill>
            <a:srgbClr val="F4F8F0"/>
          </a:solidFill>
          <a:ln w="6350">
            <a:solidFill>
              <a:srgbClr val="E5E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69400"/>
                </a:solidFill>
              </a:defRPr>
            </a:pPr>
            <a:r>
              <a:t>3,413</a:t>
            </a:r>
          </a:p>
          <a:p>
            <a:pPr algn="ctr">
              <a:defRPr sz="900">
                <a:solidFill>
                  <a:srgbClr val="5F6B6D"/>
                </a:solidFill>
              </a:defRPr>
            </a:pPr>
            <a:r>
              <a:t>钢材价格</a:t>
            </a:r>
            <a:br/>
            <a:r>
              <a:t>元/吨（5月中旬）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1C2325"/>
                </a:solidFill>
              </a:defRPr>
            </a:pPr>
            <a:r>
              <a:t>核心结论：</a:t>
            </a:r>
          </a:p>
          <a:p>
            <a:pPr>
              <a:spcAft>
                <a:spcPts val="200"/>
              </a:spcAft>
              <a:defRPr sz="1100">
                <a:solidFill>
                  <a:srgbClr val="1C2325"/>
                </a:solidFill>
              </a:defRPr>
            </a:pPr>
            <a:r>
              <a:t>① 宏观面：出口(+18.7%)与设备投资(+11.5%)双轮驱动，消费(+0.2%)偏弱但称重刚需稳定，房地产(-13.7%)持续承压需主动调整客户结构</a:t>
            </a:r>
          </a:p>
          <a:p>
            <a:pPr>
              <a:spcAft>
                <a:spcPts val="200"/>
              </a:spcAft>
              <a:defRPr sz="1100">
                <a:solidFill>
                  <a:srgbClr val="1C2325"/>
                </a:solidFill>
              </a:defRPr>
            </a:pPr>
            <a:r>
              <a:t>② 价格面：PPI创45个月新高，钢材(+22.5%)与有色(+38.9%)成本压力→称重设备从'辅助工具'升级为'成本控制节点'</a:t>
            </a:r>
          </a:p>
          <a:p>
            <a:pPr>
              <a:spcAft>
                <a:spcPts val="200"/>
              </a:spcAft>
              <a:defRPr sz="1100">
                <a:solidFill>
                  <a:srgbClr val="1C2325"/>
                </a:solidFill>
              </a:defRPr>
            </a:pPr>
            <a:r>
              <a:t>③ 政策面：设备更新5万亿+计量创新100项技术突破+AI制造全景图→三大政策红利窗口，各省最高补贴5000万元/项目</a:t>
            </a:r>
          </a:p>
          <a:p>
            <a:pPr>
              <a:spcAft>
                <a:spcPts val="200"/>
              </a:spcAft>
              <a:defRPr sz="1100">
                <a:solidFill>
                  <a:srgbClr val="1C2325"/>
                </a:solidFill>
              </a:defRPr>
            </a:pPr>
            <a:r>
              <a:t>④ 竞争面：进口vs国产价差45-75%，国产替代从'价格战'走向'技术追赶+行业深耕'，3C称重为新蓝海(当前¥20-32亿→2030年¥68-102亿)</a:t>
            </a:r>
          </a:p>
          <a:p>
            <a:pPr>
              <a:spcAft>
                <a:spcPts val="200"/>
              </a:spcAft>
              <a:defRPr sz="1100">
                <a:solidFill>
                  <a:srgbClr val="1C2325"/>
                </a:solidFill>
              </a:defRPr>
            </a:pPr>
            <a:r>
              <a:t>⑤ 核心建议：聚焦3C+新能源双引擎、捕获设备更新补贴、AI+称重平台化、供应链成本对冲、出口借势全球化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 1 三驾马车：核心宏观指标</a:t>
            </a:r>
          </a:p>
          <a:p>
            <a:pPr algn="l">
              <a:defRPr sz="1300">
                <a:solidFill>
                  <a:srgbClr val="97CBFF"/>
                </a:solidFill>
              </a:defRPr>
            </a:pPr>
            <a:r>
              <a:t>消费·投资·进出口 | 2026年4月数据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56A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B6D"/>
                </a:solidFill>
              </a:defRPr>
            </a:pPr>
            <a:r>
              <a:t>工业称重业务 | 宏观经济与政策报告 | 2026年6月 |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9966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280160"/>
                <a:gridCol w="4114800"/>
                <a:gridCol w="1097280"/>
              </a:tblGrid>
              <a:tr h="2540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趋势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对工业称重的影响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信号强度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制造业PMI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50.3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连续2月&gt;50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生产扩张→产线称重需求增加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规上工业增加值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+4.1% (4月)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稳步增长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工业产能利用率回升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社零消费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+0.2% (4月)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偏弱复苏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食品包装称重刚需稳定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固定资产投资(累计)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+5.5% (1-4月)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持续增长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基建+制造业投资驱动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设备工器具购置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+11.5%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高速增长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称重设备直接受益于设备更新周期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出口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+18.7% (4月)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强劲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港口地磅+出口检重需求旺盛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工业用电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+5.5%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产能利用率回升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企业开工率提升→称重使用频率增加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房地产投资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-13.7%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持续下行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建筑称重需求承压，需调整客户结构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⚠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 1 消费与景气：PMI &amp; 社零消费</a:t>
            </a:r>
          </a:p>
          <a:p>
            <a:pPr algn="l">
              <a:defRPr sz="1300">
                <a:solidFill>
                  <a:srgbClr val="97CBFF"/>
                </a:solidFill>
              </a:defRPr>
            </a:pPr>
            <a:r>
              <a:t>社零+0.2% | PMI 50.3 | 消费偏弱但称重刚需稳定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56A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B6D"/>
                </a:solidFill>
              </a:defRPr>
            </a:pPr>
            <a:r>
              <a:t>工业称重业务 | 宏观经济与政策报告 | 2026年6月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📊 制造业PMI走势（近12个月）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—————————————————————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25/05:49.4  25/08:49.4  25/11:49.2  26/02:49.0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25/06:49.5  25/09:49.8  25/12:50.1  26/03:50.4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25/07:49.4  25/10:49.0  26/01:49.3  26/04:50.3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→ PMI连续2月站上荣枯线(&gt;50)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→ 生产指数+1.5pct扩张，新订单+0.6pct温和改善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→ 出厂价格指数+5.1pct→成本传导压力加大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🛒 社零消费同比增速（近12个月）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—————————————————————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从3.7%(25/05)→4.6%(26/02)峰值→回落至0.2%(26/04)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4月社零总额: 37,246亿元 | 累计+1.9%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餐饮+3.8%好于商品零售-0.5%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→ 消费复苏动能偏弱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→ 消费品称重(食品包装、定量称重)需求稳定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→ 需关注消费降级对高端称重的影响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🎯 消费+景气→称重业务影响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✅ 正面信号：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• 食品饮料称重：餐饮+3.8%→食品包装/检重需求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• 快递物流：电商高景气→DWS系统需求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• PMI&gt;50→制造业整体扩张→称重设备采购信心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⚠ 风险信号：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• 社零增速放缓→消费品称重增量受限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• 消费降级→高端称重设备预算压缩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📌 建议：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• 消费品称重维持现有客户+降本方案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• 将资源向高景气赛道(出口/设备更新)倾斜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• 关注PMI出厂价格指数→调整称重设备定价策略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 1 固定资产投资与进出口</a:t>
            </a:r>
          </a:p>
          <a:p>
            <a:pPr algn="l">
              <a:defRPr sz="1300">
                <a:solidFill>
                  <a:srgbClr val="97CBFF"/>
                </a:solidFill>
              </a:defRPr>
            </a:pPr>
            <a:r>
              <a:t>设备购置+11.5% | 出口+18.7% | 房地产-13.7%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56A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B6D"/>
                </a:solidFill>
              </a:defRPr>
            </a:pPr>
            <a:r>
              <a:t>工业称重业务 | 宏观经济与政策报告 | 2026年6月 |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03327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463040"/>
                <a:gridCol w="1828800"/>
                <a:gridCol w="4114800"/>
                <a:gridCol w="914400"/>
              </a:tblGrid>
              <a:tr h="25603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4月数据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趋势判断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称重业务关联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总FAI(累计)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+5.5%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稳步增长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基建+制造业投资→称重需求基础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第二产业投资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+3.9%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制造业为主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工厂新建/扩建→称重设备采购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制造业投资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+4.4%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结构优化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高技术制造业(+12.8%)带动精密称重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设备工器具购置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+11.5%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设备更新周期启动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称重设备作为工业基础装备直接受益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基建投资(不含电力)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+6.8%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较高景气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港口/物流/交通→地磅需求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工业中长期贷款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+6.8%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融资环境改善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企业资本开支意愿增强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出口总值(当月)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63,406亿元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+18.7%强劲增长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港口物流地磅+出口检重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货运周转量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+4.3%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物流高景气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DWS系统+动态称重+无人值守地磅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房地产投资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-13.7%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持续下行⚠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建筑搅拌站称重需求萎缩→调整客户结构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 2 原材料与价格：核心指标</a:t>
            </a:r>
          </a:p>
          <a:p>
            <a:pPr algn="l">
              <a:defRPr sz="1300">
                <a:solidFill>
                  <a:srgbClr val="97CBFF"/>
                </a:solidFill>
              </a:defRPr>
            </a:pPr>
            <a:r>
              <a:t>PPI +2.8%(45个月新高) | 钢材3,413元/吨 | 有色+38.9%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56A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B6D"/>
                </a:solidFill>
              </a:defRPr>
            </a:pPr>
            <a:r>
              <a:t>工业称重业务 | 宏观经济与政策报告 | 2026年6月 | CONFIDENTIAL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645920" cy="1188720"/>
          </a:xfrm>
          <a:prstGeom prst="roundRect">
            <a:avLst/>
          </a:prstGeom>
          <a:solidFill>
            <a:srgbClr val="F4F8F0"/>
          </a:solidFill>
          <a:ln w="6350">
            <a:solidFill>
              <a:srgbClr val="E5E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BB4A4A"/>
                </a:solidFill>
              </a:defRPr>
            </a:pPr>
            <a:r>
              <a:t>+2.8%</a:t>
            </a:r>
          </a:p>
          <a:p>
            <a:pPr algn="ctr">
              <a:defRPr sz="900">
                <a:solidFill>
                  <a:srgbClr val="5F6B6D"/>
                </a:solidFill>
              </a:defRPr>
            </a:pPr>
            <a:r>
              <a:t>PPI同比</a:t>
            </a:r>
            <a:br/>
            <a:r>
              <a:t>45个月新高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371600"/>
            <a:ext cx="1645920" cy="1188720"/>
          </a:xfrm>
          <a:prstGeom prst="roundRect">
            <a:avLst/>
          </a:prstGeom>
          <a:solidFill>
            <a:srgbClr val="F4F8F0"/>
          </a:solidFill>
          <a:ln w="6350">
            <a:solidFill>
              <a:srgbClr val="E5E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E69400"/>
                </a:solidFill>
              </a:defRPr>
            </a:pPr>
            <a:r>
              <a:t>3,413</a:t>
            </a:r>
          </a:p>
          <a:p>
            <a:pPr algn="ctr">
              <a:defRPr sz="900">
                <a:solidFill>
                  <a:srgbClr val="5F6B6D"/>
                </a:solidFill>
              </a:defRPr>
            </a:pPr>
            <a:r>
              <a:t>钢材价格</a:t>
            </a:r>
            <a:br/>
            <a:r>
              <a:t>元/吨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1645920" cy="1188720"/>
          </a:xfrm>
          <a:prstGeom prst="roundRect">
            <a:avLst/>
          </a:prstGeom>
          <a:solidFill>
            <a:srgbClr val="F4F8F0"/>
          </a:solidFill>
          <a:ln w="6350">
            <a:solidFill>
              <a:srgbClr val="E5E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BB4A4A"/>
                </a:solidFill>
              </a:defRPr>
            </a:pPr>
            <a:r>
              <a:t>+38.9%</a:t>
            </a:r>
          </a:p>
          <a:p>
            <a:pPr algn="ctr">
              <a:defRPr sz="900">
                <a:solidFill>
                  <a:srgbClr val="5F6B6D"/>
                </a:solidFill>
              </a:defRPr>
            </a:pPr>
            <a:r>
              <a:t>有色金属采选PPI</a:t>
            </a:r>
            <a:br/>
            <a:r>
              <a:t>涨幅最大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1645920" cy="1188720"/>
          </a:xfrm>
          <a:prstGeom prst="roundRect">
            <a:avLst/>
          </a:prstGeom>
          <a:solidFill>
            <a:srgbClr val="F4F8F0"/>
          </a:solidFill>
          <a:ln w="6350">
            <a:solidFill>
              <a:srgbClr val="E5E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BB4A4A"/>
                </a:solidFill>
              </a:defRPr>
            </a:pPr>
            <a:r>
              <a:t>+28.6%</a:t>
            </a:r>
          </a:p>
          <a:p>
            <a:pPr algn="ctr">
              <a:defRPr sz="900">
                <a:solidFill>
                  <a:srgbClr val="5F6B6D"/>
                </a:solidFill>
              </a:defRPr>
            </a:pPr>
            <a:r>
              <a:t>石油/天然气PPI</a:t>
            </a:r>
            <a:br/>
            <a:r>
              <a:t>国际输入性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371600"/>
            <a:ext cx="1645920" cy="1188720"/>
          </a:xfrm>
          <a:prstGeom prst="roundRect">
            <a:avLst/>
          </a:prstGeom>
          <a:solidFill>
            <a:srgbClr val="F4F8F0"/>
          </a:solidFill>
          <a:ln w="6350">
            <a:solidFill>
              <a:srgbClr val="E5E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BB4A4A"/>
                </a:solidFill>
              </a:defRPr>
            </a:pPr>
            <a:r>
              <a:t>+22.5%</a:t>
            </a:r>
          </a:p>
          <a:p>
            <a:pPr algn="ctr">
              <a:defRPr sz="900">
                <a:solidFill>
                  <a:srgbClr val="5F6B6D"/>
                </a:solidFill>
              </a:defRPr>
            </a:pPr>
            <a:r>
              <a:t>黑色金属冶炼PPI</a:t>
            </a:r>
            <a:br/>
            <a:r>
              <a:t>钢材成本驱动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371600"/>
            <a:ext cx="1645920" cy="1188720"/>
          </a:xfrm>
          <a:prstGeom prst="roundRect">
            <a:avLst/>
          </a:prstGeom>
          <a:solidFill>
            <a:srgbClr val="F4F8F0"/>
          </a:solidFill>
          <a:ln w="6350">
            <a:solidFill>
              <a:srgbClr val="E5E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004696"/>
                </a:solidFill>
              </a:defRPr>
            </a:pPr>
            <a:r>
              <a:t>+5.5%</a:t>
            </a:r>
          </a:p>
          <a:p>
            <a:pPr algn="ctr">
              <a:defRPr sz="900">
                <a:solidFill>
                  <a:srgbClr val="5F6B6D"/>
                </a:solidFill>
              </a:defRPr>
            </a:pPr>
            <a:r>
              <a:t>工业用电同比</a:t>
            </a:r>
            <a:br/>
            <a:r>
              <a:t>产能利用率↑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📈 PPI分行业同比涨幅（2026年4月）: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有色金属采选+38.9% | 石油/天然气+28.6% | 黑色金属冶炼+22.5% | 有色金属冶炼+22.5%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化学原料制品+14.2% | 橡胶/塑料+8.9% | 煤炭采选+3.1% | 黑色金属采选+1.3%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通用设备-1.0% | 专用设备-0.9% | 非金属矿物-5.5%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📉 钢材价格走势（2025年4-5月）：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4/29: 3,250 | 5/6: 3,230 | 5/9: 3,210(低点) | 5/14: 3,310 | 5/15: 3,290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同比变化：-15.6%→-13.2%（降幅持续收窄，价格中枢上移趋势确立）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🎯 核心解读：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→ 有色+石化领涨→原材料成本上升→企业需精准计量控成本→称重设备从'辅助工具'升级为'成本控制节点'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→ 钢价中枢上移+设备更新周期→称重设备制造成本承压但需求同步扩张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→ 行业分化：有色/石化/新能源高景气 vs 建材/非金属低景气→称重业务应聚焦高景气行业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 2 分行业原材料价格与称重需求关联</a:t>
            </a:r>
          </a:p>
          <a:p>
            <a:pPr algn="l">
              <a:defRPr sz="1300">
                <a:solidFill>
                  <a:srgbClr val="97CBFF"/>
                </a:solidFill>
              </a:defRPr>
            </a:pPr>
            <a:r>
              <a:t>8大行业×称重需求机会评级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56A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B6D"/>
                </a:solidFill>
              </a:defRPr>
            </a:pPr>
            <a:r>
              <a:t>工业称重业务 | 宏观经济与政策报告 | 2026年6月 |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80160"/>
          <a:ext cx="94183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005840"/>
                <a:gridCol w="2743200"/>
                <a:gridCol w="1097280"/>
                <a:gridCol w="1097280"/>
              </a:tblGrid>
              <a:tr h="5588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行业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关键价格指标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价格趋势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称重需求场景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景气度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建议优先级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钢铁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3,413元/吨 | PPI +22.5%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▲上行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港口地磅·钢厂称重系统·钢材贸易计量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●●●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石油化工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PPI +28.6% | 化学+14.2%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▲上行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防爆称重·化工配料·罐区计量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●●●●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有色金属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PPI +38.9% | 冶炼+22.5%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▲暴涨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矿用称重·精矿计量·贸易结算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●●●●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新能源材料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锂电产量+31% | 光伏+3.8%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▲高增长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精密称重·防爆配料·微量称重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●●●●●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物流运输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货运周转+4.3% | 累计+6.2%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▲高景气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DWS系统·动态称重·无人值守地磅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●●●●●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建材/非金属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PPI -5.5% | 水泥低迷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▼下行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搅拌站称重·建材计量→需求承压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通用/专用设备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PPI -1.0%/-0.9% | 增加值+8.3%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→平稳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称重设备·检重秤·配料系统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●●●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食品/消费品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CPI +2.1% | 社零+0.2%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→偏弱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定量包装·食品检重·超市称重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●●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 3 国家层面核心政策</a:t>
            </a:r>
          </a:p>
          <a:p>
            <a:pPr algn="l">
              <a:defRPr sz="1300">
                <a:solidFill>
                  <a:srgbClr val="97CBFF"/>
                </a:solidFill>
              </a:defRPr>
            </a:pPr>
            <a:r>
              <a:t>四大政策 × 称重业务机遇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56A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B6D"/>
                </a:solidFill>
              </a:defRPr>
            </a:pPr>
            <a:r>
              <a:t>工业称重业务 | 宏观经济与政策报告 | 2026年6月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1. 工信部《关于制造业计量创新发展的意见》(2025.6)  [核心文件]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 到2027年：突破100+项计量校准技术 | 研制100+台套计量器具 | 培育50+家仪器仪表优质企业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 → 称重设备三大技术方向：量子计量、AI自适应校准、动态量准确测量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2. 工信部2026年工业和信息化质量工作通知 (厅科函〔2026〕147号, 2026.4.7)  [最新政策]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 加快突破检测装备 | 推动计量校准仪器仪表产业发展 | 建设高水平智能工厂 | '人工智能+质量'应用全景图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 → 称重设备：在线动态校准、AI+称重质检、智能传感器被明确列为重点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3. 市场监管总局《2026年全国计量工作要点》(2026.2)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 强化强制检定管理 | 推进产业计量测试中心建设 | 推动计量数字化转型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 → 强制检定要求趋严→合规称重设备替代非标产品，利好正规厂商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4. '十五五'规划——仪器仪表产业全链条攻关  [长期利好]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 多地'十五五'规划明确全链条推动仪器仪表核心技术攻关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 称重传感器、测力传感器列为重点突破方向 | 培育专精特新'小巨人'企业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 → 高端称重模组国产替代+智能工厂配套称重系统集成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 3 省市政策机遇与资金补贴</a:t>
            </a:r>
          </a:p>
          <a:p>
            <a:pPr algn="l">
              <a:defRPr sz="1300">
                <a:solidFill>
                  <a:srgbClr val="97CBFF"/>
                </a:solidFill>
              </a:defRPr>
            </a:pPr>
            <a:r>
              <a:t>10大重点省市的称重业务机会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56A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B6D"/>
                </a:solidFill>
              </a:defRPr>
            </a:pPr>
            <a:r>
              <a:t>工业称重业务 | 宏观经济与政策报告 | 2026年6月 |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103327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3017520"/>
                <a:gridCol w="2560320"/>
                <a:gridCol w="2560320"/>
                <a:gridCol w="1097280"/>
              </a:tblGrid>
              <a:tr h="48213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地区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核心政策/文件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称重业务关联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资金/补贴亮点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广东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智慧仓储·无人装卸·智慧物流·低空经济(2026.3)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物流地磅·DWS·无人值守称重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先进制造业专项资金最高5,000万元/项目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山东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百个质量技术攻关项目(2026)/19条产业链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碳计量称重·在线称重·智能传感器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质量攻关专项3,000万元/项目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福建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计量服务十大举措/AI+计量包装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定量包装称重智能化·AI自适应算法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数字经济基金2亿元/年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浙江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产业计量测试中心新规/415X集群行动方案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精密称重传感器·数字计量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集群专项最高1亿元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江苏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十五五制造业规划/仪器仪表攻关/智改数转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高端称重模组国产替代·智能工厂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设备投资额15-30%奖补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京津冀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产业计量协同/钢铁化工计量升级/环保督查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钢铁厂称重升级·防爆称重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协同发展基金总规模1,000亿元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川渝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成渝双城经济圈/汽车电子锂电扩张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汽车检重·锂电称重配料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川渝产业基金首期500亿元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湖北/湖南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中部崛起/工程机械集群/新能源车基地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工程机械称重·动力电池称重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技改贷款贴息最高500万元/年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</a:tr>
              <a:tr h="48213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辽宁/吉林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东北振兴/石化钢铁粮食加工计量升级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石化防爆称重·粮食仓储称重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东北振兴专项年度超千亿元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48214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新疆/内蒙古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西部大开发/煤炭矿产新能源基地/口岸物流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矿用称重·煤炭物流地磅·口岸称重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企业所得税减按15%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 3 重点政策资金机遇</a:t>
            </a:r>
          </a:p>
          <a:p>
            <a:pPr algn="l">
              <a:defRPr sz="1300">
                <a:solidFill>
                  <a:srgbClr val="97CBFF"/>
                </a:solidFill>
              </a:defRPr>
            </a:pPr>
            <a:r>
              <a:t>四大专项资金 × 称重设备机会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56A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B6D"/>
                </a:solidFill>
              </a:defRPr>
            </a:pPr>
            <a:r>
              <a:t>工业称重业务 | 宏观经济与政策报告 | 2026年6月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1C2325"/>
                </a:solidFill>
              </a:defRPr>
            </a:pPr>
            <a:r>
              <a:t>🔬 制造业计量创新发展专项 — 100+项计量技术突破</a:t>
            </a:r>
          </a:p>
          <a:p>
            <a:pPr>
              <a:spcAft>
                <a:spcPts val="200"/>
              </a:spcAft>
              <a:defRPr sz="1050">
                <a:solidFill>
                  <a:srgbClr val="1C2325"/>
                </a:solidFill>
              </a:defRPr>
            </a:pPr>
            <a:r>
              <a:t>   政策：工信部2025.6 | 量子计量·AI校准·动态量测量为三大方向</a:t>
            </a:r>
          </a:p>
          <a:p>
            <a:pPr>
              <a:spcAft>
                <a:spcPts val="200"/>
              </a:spcAft>
              <a:defRPr sz="1050">
                <a:solidFill>
                  <a:srgbClr val="1C2325"/>
                </a:solidFill>
              </a:defRPr>
            </a:pPr>
            <a:r>
              <a:t>   机会：符合条件企业可申报国家级专项课题，单个课题经费500-2,000万元</a:t>
            </a:r>
          </a:p>
          <a:p>
            <a:pPr>
              <a:spcAft>
                <a:spcPts val="200"/>
              </a:spcAft>
              <a:defRPr sz="105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1C2325"/>
                </a:solidFill>
              </a:defRPr>
            </a:pPr>
            <a:r>
              <a:t>🏭 大规模设备更新 — 年度规模超5万亿元</a:t>
            </a:r>
          </a:p>
          <a:p>
            <a:pPr>
              <a:spcAft>
                <a:spcPts val="200"/>
              </a:spcAft>
              <a:defRPr sz="1050">
                <a:solidFill>
                  <a:srgbClr val="1C2325"/>
                </a:solidFill>
              </a:defRPr>
            </a:pPr>
            <a:r>
              <a:t>   政策：国务院行动方案→2027年设备投资增长25%+ | 重点推动仪器仪表、检测设备更新</a:t>
            </a:r>
          </a:p>
          <a:p>
            <a:pPr>
              <a:spcAft>
                <a:spcPts val="200"/>
              </a:spcAft>
              <a:defRPr sz="1050">
                <a:solidFill>
                  <a:srgbClr val="1C2325"/>
                </a:solidFill>
              </a:defRPr>
            </a:pPr>
            <a:r>
              <a:t>   机会：工业称重设备属于仪器仪表大类，直接享受10-30%购置补贴或技改贷款贴息</a:t>
            </a:r>
          </a:p>
          <a:p>
            <a:pPr>
              <a:spcAft>
                <a:spcPts val="200"/>
              </a:spcAft>
              <a:defRPr sz="105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1C2325"/>
                </a:solidFill>
              </a:defRPr>
            </a:pPr>
            <a:r>
              <a:t>🤖 AI+制造业/智能工厂建设 — 智能制造试点示范500+家</a:t>
            </a:r>
          </a:p>
          <a:p>
            <a:pPr>
              <a:spcAft>
                <a:spcPts val="200"/>
              </a:spcAft>
              <a:defRPr sz="1050">
                <a:solidFill>
                  <a:srgbClr val="1C2325"/>
                </a:solidFill>
              </a:defRPr>
            </a:pPr>
            <a:r>
              <a:t>   政策：工信部'人工智能+质量'全景图+各省智能工厂梯度培育</a:t>
            </a:r>
          </a:p>
          <a:p>
            <a:pPr>
              <a:spcAft>
                <a:spcPts val="200"/>
              </a:spcAft>
              <a:defRPr sz="1050">
                <a:solidFill>
                  <a:srgbClr val="1C2325"/>
                </a:solidFill>
              </a:defRPr>
            </a:pPr>
            <a:r>
              <a:t>   机会：AI视觉+称重融合系统(智能检重·在线分选·无人值守一体机)为下一增长极</a:t>
            </a:r>
          </a:p>
          <a:p>
            <a:pPr>
              <a:spcAft>
                <a:spcPts val="200"/>
              </a:spcAft>
              <a:defRPr sz="105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50">
                <a:solidFill>
                  <a:srgbClr val="1C2325"/>
                </a:solidFill>
              </a:defRPr>
            </a:pPr>
            <a:r>
              <a:t>🌱 碳计量/双碳目标 — 碳计量试点覆盖200+城市</a:t>
            </a:r>
          </a:p>
          <a:p>
            <a:pPr>
              <a:spcAft>
                <a:spcPts val="200"/>
              </a:spcAft>
              <a:defRPr sz="1050">
                <a:solidFill>
                  <a:srgbClr val="1C2325"/>
                </a:solidFill>
              </a:defRPr>
            </a:pPr>
            <a:r>
              <a:t>   政策：市场监管总局碳计量体系建设+各省碳达峰实施方案</a:t>
            </a:r>
          </a:p>
          <a:p>
            <a:pPr>
              <a:spcAft>
                <a:spcPts val="200"/>
              </a:spcAft>
              <a:defRPr sz="1050">
                <a:solidFill>
                  <a:srgbClr val="1C2325"/>
                </a:solidFill>
              </a:defRPr>
            </a:pPr>
            <a:r>
              <a:t>   机会：碳计量称重系统(物料称重×碳排放核算)——全新品类，先发优势极其重要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 4 竞争格局：Porter五力分析</a:t>
            </a:r>
          </a:p>
          <a:p>
            <a:pPr algn="l">
              <a:defRPr sz="1300">
                <a:solidFill>
                  <a:srgbClr val="97CBFF"/>
                </a:solidFill>
              </a:defRPr>
            </a:pPr>
            <a:r>
              <a:t>工业称重行业竞争结构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56A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B6D"/>
                </a:solidFill>
              </a:defRPr>
            </a:pPr>
            <a:r>
              <a:t>工业称重业务 | 宏观经济与政策报告 | 2026年6月 |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88720"/>
                <a:gridCol w="4114800"/>
                <a:gridCol w="4114800"/>
              </a:tblGrid>
              <a:tr h="8077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竞争力量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强度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关键驱动因素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对称重业务的影响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现有竞争者竞争强度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高 HIGH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高端MT/茵泰科寡头垄断；中端柯力/赛摩/中航激烈争夺；低端数百家价格战；坤维等新势力跨界入局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国产替代是最大结构性机会(进口vs国产价差45-75%)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潜在进入者威胁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中 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OIML/CPA认证周期长(1-2年)；高精度传感器研发门槛高；但坤维(航天跨界)证明技术溢出可突破壁垒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需要在认证+行业know-how上建立先发优势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替代品威胁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低 LOW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工业称重为基础计量工具，难以完全替代；但AI视觉(体积估算)+流程模拟软件在特定场景构成替代威胁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长期需关注AI视觉与称重的融合而非替代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供应商议价能力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中 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钢材(+22.5%)·有色金属(+38.9%)价格上行；高端芯片/应变计仍依赖进口；国产替代在进行中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必须推进供应链国产替代+锁价策略</a:t>
                      </a:r>
                    </a:p>
                  </a:txBody>
                  <a:tcPr/>
                </a:tc>
              </a:tr>
              <a:tr h="80772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购买者议价能力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中高 MED-HIGH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中低端买家选择多→议价强；高端防爆/精密被MT/茵泰科锁定→买家选择少；大客户集中采购议价权强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行业深耕(3C/化工/新能源)→提升客户粘性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 4 价格对标：7家企业 × 6大品类</a:t>
            </a:r>
          </a:p>
          <a:p>
            <a:pPr algn="l">
              <a:defRPr sz="1300">
                <a:solidFill>
                  <a:srgbClr val="97CBFF"/>
                </a:solidFill>
              </a:defRPr>
            </a:pPr>
            <a:r>
              <a:t>进口(MT/茵泰科) vs 国产(柯力/中航/赛摩/坤维) | 2026年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56A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B6D"/>
                </a:solidFill>
              </a:defRPr>
            </a:pPr>
            <a:r>
              <a:t>工业称重业务 | 宏观经济与政策报告 | 2026年6月 |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188720"/>
          <a:ext cx="103327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280160"/>
                <a:gridCol w="1280160"/>
                <a:gridCol w="1280160"/>
                <a:gridCol w="1371600"/>
                <a:gridCol w="1188720"/>
                <a:gridCol w="1188720"/>
                <a:gridCol w="1188720"/>
              </a:tblGrid>
              <a:tr h="70539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产品品类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MT(进口)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茵泰科(进口)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柯力(国产)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中航电测(国产)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赛摩(国产)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坤维(国产)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进口vs国产价差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称重传感器(工业1t)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2,500-4,000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2,000-3,500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800-1,500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700-1,400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600-1,200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600-1,200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50-75%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称重仪表/终端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8,000-15,000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6,000-12,000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3,000-6,000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2,800-5,500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2,500-5,000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50-60%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平台秤/地磅(60t)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8万-12万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7万-10万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3.5万-5.5万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3万-5万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3万-5万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45-55%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防爆称重系统(Zone2)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20万-40万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18万-45万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8万-18万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55-65%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动态检重秤(产线级)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5万-10万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4万-8万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1.8万-3.5万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1.5万-3万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50-60%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无人值守称重系统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15万-30万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12万-25万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5万-10万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4.5万-9万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4万-8万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60-70%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 4 市占率分析：中国市场估算（2026年）</a:t>
            </a:r>
          </a:p>
          <a:p>
            <a:pPr algn="l">
              <a:defRPr sz="1300">
                <a:solidFill>
                  <a:srgbClr val="97CBFF"/>
                </a:solidFill>
              </a:defRPr>
            </a:pPr>
            <a:r>
              <a:t>7家企业 × 6大品类 | 来源: QYResearch/GIR/格隆汇/上市公司年报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56A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B6D"/>
                </a:solidFill>
              </a:defRPr>
            </a:pPr>
            <a:r>
              <a:t>工业称重业务 | 宏观经济与政策报告 | 2026年6月 |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188720"/>
          <a:ext cx="106070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188720"/>
                <a:gridCol w="1188720"/>
                <a:gridCol w="1371600"/>
                <a:gridCol w="1371600"/>
                <a:gridCol w="1188720"/>
                <a:gridCol w="1188720"/>
                <a:gridCol w="1554480"/>
              </a:tblGrid>
              <a:tr h="70539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产品品类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MT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茵泰科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柯力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中航电测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赛摩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坤维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进口vs国产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称重传感器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~10-12%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~5-7%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~15-18%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~8-12%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~2-3%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~0.5-1%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进口~20% vs 国产~80%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称重仪表/终端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~18-22%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~10-14%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~15-20%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~6-10%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~4-7%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进口~30% vs 国产~70%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平台秤/地磅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~10-14%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~3-5%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~10-14%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~5-8%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~8-12%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进口~15% vs 国产~85%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防爆称重系统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~20-25%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~30-35%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~12-18%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进口~60% vs 国产~40%</a:t>
                      </a:r>
                    </a:p>
                  </a:txBody>
                  <a:tcPr/>
                </a:tc>
              </a:tr>
              <a:tr h="705394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动态检重秤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~12-15%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~7-10%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~2-4%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~1-3%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进口~31% vs 国产~69%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无人值守称重系统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~8-12%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~2-4%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~15-22%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~8-12%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~10-15%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进口~12% vs 国产~88%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 4 竞争格局总结：三层梯队 + 2026关键趋势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56A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B6D"/>
                </a:solidFill>
              </a:defRPr>
            </a:pPr>
            <a:r>
              <a:t>工业称重业务 | 宏观经济与政策报告 | 2026年6月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🏆 竞争梯队（按综合实力）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第一梯队（全球标杆）：梅特勒-托利多、茵泰科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→ 全球市占率合计~30% | 毛利率55-60% | 技术/认证壁垒极高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第二梯队（国产领军）：柯力传感、中航电测、赛摩智能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→ 国内市占率合计~20-25% | 毛利率35-45% | 快速技术追赶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第三梯队（细分/新锐）：坤维科技、衡安、兵立称重等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→ 在特定场景(航天级/防作弊/防爆)建立差异化优势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第三梯队（细分/新锐）：坤维科技、衡安、兵立称重等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→ 在特定场景(航天级/防作弊/防爆)建立差异化优势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📈 2026年5大关键竞争趋势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1. 国产替代加速：坤维航天级精度(0.01%FS)、赛摩OIML 0.2级→高端破冰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2. 智能化升维竞争：MT DataMaster™ 3.0 vs 柯力'传感器森林'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 → 从卖硬件→卖系统+数据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3. 机器人赛道交叉：柯力/中航六维力传感器月出货破千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 → 称重+机器人力控融合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4. 价格分层固化：进口溢价50-70%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 → 进口被迫国产化(MT常州工厂)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5. 行业洗牌：低端同质化→价格战淘汰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 专精特新'小巨人'政策利好差异化企业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 5 3C电子制造业：工业称重新蓝海</a:t>
            </a:r>
          </a:p>
          <a:p>
            <a:pPr algn="l">
              <a:defRPr sz="1300">
                <a:solidFill>
                  <a:srgbClr val="97CBFF"/>
                </a:solidFill>
              </a:defRPr>
            </a:pPr>
            <a:r>
              <a:t>3C市场1.1万亿+ | 规上营收14万亿 | 增加值+10.6%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56A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B6D"/>
                </a:solidFill>
              </a:defRPr>
            </a:pPr>
            <a:r>
              <a:t>工业称重业务 | 宏观经济与政策报告 | 2026年6月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📊 中国3C电子制造业规模（2025年）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• 3C市场总销售：超1.1万亿元（+18.5% YoY）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• 规上企业营收：14万亿元（+8.3%）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• 利润总额：5,700亿元（+12.8%）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• 工业增加值增速：+10.6%（领跑工业经济）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• 智能手机销售：4,715亿元（+20%）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• AI终端爆发：AI玩具+427% | 电子教育+43%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🎯 为什么3C是称重新蓝海？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1. 精度需求爆发：从0.1%→0.01g→0.1mg级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2. 100%全检替代抽检：不良率5.3%→0.3%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3. 国产替代窗口：进口60%价格+≤8月回收期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4. 政策驱动：智能制造2027→称重联网率90%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5. 产值密度高：单条3C产线称重投入为传统3-5倍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6. 客户粘性强：苹果/华为认证后替换成本极高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1C2325"/>
                </a:solidFill>
              </a:defRPr>
            </a:pPr>
            <a:r>
              <a:t>🔧 5大核心应用场景 &amp; 市场规模</a:t>
            </a:r>
          </a:p>
          <a:p>
            <a:pPr>
              <a:spcAft>
                <a:spcPts val="200"/>
              </a:spcAft>
              <a:defRPr sz="95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1C2325"/>
                </a:solidFill>
              </a:defRPr>
            </a:pPr>
            <a:r>
              <a:t>场景一：点胶称重闭环 | 0.1mg-1mg | 当前¥3-5亿→2030年¥8-12亿</a:t>
            </a:r>
          </a:p>
          <a:p>
            <a:pPr>
              <a:spcAft>
                <a:spcPts val="200"/>
              </a:spcAft>
              <a:defRPr sz="950">
                <a:solidFill>
                  <a:srgbClr val="1C2325"/>
                </a:solidFill>
              </a:defRPr>
            </a:pPr>
            <a:r>
              <a:t>  手机芯片Underfill·扬声器密封·LED封装</a:t>
            </a:r>
          </a:p>
          <a:p>
            <a:pPr>
              <a:spcAft>
                <a:spcPts val="200"/>
              </a:spcAft>
              <a:defRPr sz="95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1C2325"/>
                </a:solidFill>
              </a:defRPr>
            </a:pPr>
            <a:r>
              <a:t>场景二：元器件在线检重 | 0.01g | 当前¥10-15亿→2030年¥35-50亿</a:t>
            </a:r>
          </a:p>
          <a:p>
            <a:pPr>
              <a:spcAft>
                <a:spcPts val="200"/>
              </a:spcAft>
              <a:defRPr sz="950">
                <a:solidFill>
                  <a:srgbClr val="1C2325"/>
                </a:solidFill>
              </a:defRPr>
            </a:pPr>
            <a:r>
              <a:t>  芯片/连接器缺件检测·PCB组件校验（增速最快！）</a:t>
            </a:r>
          </a:p>
          <a:p>
            <a:pPr>
              <a:spcAft>
                <a:spcPts val="200"/>
              </a:spcAft>
              <a:defRPr sz="95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1C2325"/>
                </a:solidFill>
              </a:defRPr>
            </a:pPr>
            <a:r>
              <a:t>场景三：微小零件计数 | 0.001-0.01g | ¥3-5亿→¥5-8亿</a:t>
            </a:r>
          </a:p>
          <a:p>
            <a:pPr>
              <a:spcAft>
                <a:spcPts val="200"/>
              </a:spcAft>
              <a:defRPr sz="950">
                <a:solidFill>
                  <a:srgbClr val="1C2325"/>
                </a:solidFill>
              </a:defRPr>
            </a:pPr>
            <a:r>
              <a:t>  SMT物料管理·高值元器件库存盘点</a:t>
            </a:r>
          </a:p>
          <a:p>
            <a:pPr>
              <a:spcAft>
                <a:spcPts val="200"/>
              </a:spcAft>
              <a:defRPr sz="95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1C2325"/>
                </a:solidFill>
              </a:defRPr>
            </a:pPr>
            <a:r>
              <a:t>场景四：精密配料称重 | 0.01-0.1g | ¥2-3亿→¥5-7亿</a:t>
            </a:r>
          </a:p>
          <a:p>
            <a:pPr>
              <a:spcAft>
                <a:spcPts val="200"/>
              </a:spcAft>
              <a:defRPr sz="950">
                <a:solidFill>
                  <a:srgbClr val="1C2325"/>
                </a:solidFill>
              </a:defRPr>
            </a:pPr>
            <a:r>
              <a:t>  锂电池电解液·导热硅脂·光学胶计量</a:t>
            </a:r>
          </a:p>
          <a:p>
            <a:pPr>
              <a:spcAft>
                <a:spcPts val="200"/>
              </a:spcAft>
              <a:defRPr sz="95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1C2325"/>
                </a:solidFill>
              </a:defRPr>
            </a:pPr>
            <a:r>
              <a:t>场景五：AI+称重融合 | 0.01g+AI | ¥2-4亿→¥15-25亿</a:t>
            </a:r>
          </a:p>
          <a:p>
            <a:pPr>
              <a:spcAft>
                <a:spcPts val="200"/>
              </a:spcAft>
              <a:defRPr sz="950">
                <a:solidFill>
                  <a:srgbClr val="1C2325"/>
                </a:solidFill>
              </a:defRPr>
            </a:pPr>
            <a:r>
              <a:t>  增速最高品类(35-45% CAGR)·ASP为传统3-5倍</a:t>
            </a:r>
          </a:p>
          <a:p>
            <a:pPr>
              <a:spcAft>
                <a:spcPts val="200"/>
              </a:spcAft>
              <a:defRPr sz="95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950">
                <a:solidFill>
                  <a:srgbClr val="1C2325"/>
                </a:solidFill>
              </a:defRPr>
            </a:pPr>
            <a:r>
              <a:t>💡 合计：当前¥20-32亿 → 2030年¥68-102亿 (CAGR ~22%)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 5 3C制造产业集群与头部企业</a:t>
            </a:r>
          </a:p>
          <a:p>
            <a:pPr algn="l">
              <a:defRPr sz="1300">
                <a:solidFill>
                  <a:srgbClr val="97CBFF"/>
                </a:solidFill>
              </a:defRPr>
            </a:pPr>
            <a:r>
              <a:t>6大集群 | 华为/OPPO/vivo/富士康/立讯精密/联想/小米/海康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56A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B6D"/>
                </a:solidFill>
              </a:defRPr>
            </a:pPr>
            <a:r>
              <a:t>工业称重业务 | 宏观经济与政策报告 | 2026年6月 |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188720"/>
          <a:ext cx="99669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554480"/>
                <a:gridCol w="914400"/>
                <a:gridCol w="2926080"/>
                <a:gridCol w="2560320"/>
                <a:gridCol w="914400"/>
              </a:tblGrid>
              <a:tr h="71845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集群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核心城市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产值占比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头部企业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称重需求场景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评级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珠三角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深圳·东莞·惠州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~35%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华为/OPPO/vivo/富士康/比亚迪电子/立讯精密/华勤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点胶·检重·SMT计数·AI融合(全场景)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长三角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苏州·昆山·上海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小米/联想/和硕/仁宝/纬创/广达/立讯精密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PC组装检重·电池称重·SMT缺件检测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成渝双城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成都·重庆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~10%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OPPO/vivo/富士康(iPad)/比亚迪电子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平板/手机组装线称重·点胶模块(增量)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河南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郑州·洛阳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iPhone~50%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富士康(员工25万+)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iPhone组装线高精度称重(需求集中)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★★★★</a:t>
                      </a:r>
                    </a:p>
                  </a:txBody>
                  <a:tcPr/>
                </a:tc>
              </a:tr>
              <a:tr h="718457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湖北/湖南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武汉·长沙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~8%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联想/小米(武汉)/华星光电/京东方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AIoT设备称重·面板精密称重(新品类)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718458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浙江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杭州·宁波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~5%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海康威视/大华/涂鸦智能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摄像头模组称重·机器人传感器标定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★★★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 5 STP策略：3C称重市场切入路径</a:t>
            </a:r>
          </a:p>
          <a:p>
            <a:pPr algn="l">
              <a:defRPr sz="1300">
                <a:solidFill>
                  <a:srgbClr val="97CBFF"/>
                </a:solidFill>
              </a:defRPr>
            </a:pPr>
            <a:r>
              <a:t>Segmentation · Targeting ·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56A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B6D"/>
                </a:solidFill>
              </a:defRPr>
            </a:pPr>
            <a:r>
              <a:t>工业称重业务 | 宏观经济与政策报告 | 2026年6月 | CONFIDENTIAL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S: 市场细分（四大维度）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• 按应用场景：点胶称重|在线检重|计数|配料|AI融合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• 按精度层级：经济型(0.1g)|精密型(0.01g)|超精密(≤1mg)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• 按客户规模：苹果/华为/Tesla(Tier1)|ODM/OEM大厂|中小电子厂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• 按地域集群：珠三角(~35%)|长三角(~25%)|成渝(~10%)|其他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T: 目标选择（三大优先细分市场）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🥇 第一优先：在线检重秤(¥10-15亿→¥35-50亿,增速最快)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  → 主打国产替代进口(MT/安立)，ASP ¥3-8万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🥈 第二优先：点胶称重模块(¥3-5亿→¥8-12亿)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  → 产品标准化+ODM/OEM大厂批量供货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🥉 第三优先：AI+称重融合(¥2-4亿→¥15-25亿,增速最高)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    → 与AI视觉厂商战略联盟,打造差异化壁垒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P: 差异化定位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vs进口(MT/安立)：'同等精度+60%价格+48h响应'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vs国产同行：'0.01g精度+AI诊断+MES直连'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vs传统称重厂商：'3C专用而非通用'—行业know-how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🛡️ 四大护城河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1. 认证壁垒：苹果MFi/华为供应链认证(12-18个月)→先发优势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2. 数据壁垒：称重数据+MES深度绑定→迁移成本=停线风险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3. 服务壁垒：珠三角/长三角本地应用中心→2小时到现场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4. 生态壁垒：与点胶机/AOI/机械手厂商建立联合方案→预集成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📈 四阶段进入路径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Phase 1(0-6月): 标准化检重秤→ODM/OEM大厂快速起量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Phase 2(6-12月): 点胶称重模块→与点胶机厂商合作预集成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Phase 3(12-18月): 攻苹果/华为供应链→AI+称重融合试点</a:t>
            </a:r>
          </a:p>
          <a:p>
            <a:pPr>
              <a:spcAft>
                <a:spcPts val="200"/>
              </a:spcAft>
              <a:defRPr sz="1000">
                <a:solidFill>
                  <a:srgbClr val="1C2325"/>
                </a:solidFill>
              </a:defRPr>
            </a:pPr>
            <a:r>
              <a:t>Phase 4(18-24月): 建立3C称重子品牌→独立运营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Tab 6 战略建议：领先工业称重赛道的8条建议</a:t>
            </a:r>
          </a:p>
          <a:p>
            <a:pPr algn="l">
              <a:defRPr sz="1300">
                <a:solidFill>
                  <a:srgbClr val="97CBFF"/>
                </a:solidFill>
              </a:defRPr>
            </a:pPr>
            <a:r>
              <a:t>基于宏观+原材料+政策+竞争+3C五维综合分析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56A4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B6D"/>
                </a:solidFill>
              </a:defRPr>
            </a:pPr>
            <a:r>
              <a:t>工业称重业务 | 宏观经济与政策报告 | 2026年6月 | CONFIDENTIAL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" y="1188720"/>
          <a:ext cx="106984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011680"/>
                <a:gridCol w="1828800"/>
                <a:gridCol w="1645920"/>
                <a:gridCol w="1554480"/>
                <a:gridCol w="1554480"/>
                <a:gridCol w="1645920"/>
              </a:tblGrid>
              <a:tr h="5892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战略建议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核心驱动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短期(0-6月)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中期(6-12月)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长期(12-24月)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成功指标</a:t>
                      </a:r>
                    </a:p>
                  </a:txBody>
                  <a:tcPr>
                    <a:solidFill>
                      <a:srgbClr val="002A5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聚焦3C+新能源双引擎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宏观高景气+蓝海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设立3C产品线·标准检重秤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3C客单价¥100万/家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3C称重占营收&gt;25%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3C市占率&gt;10%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设备更新补贴捕获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政策5万亿+设备购置+11.5%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制作补贴指南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进入3省补贴目录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补贴驱动销售&gt;30%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补贴营收&gt;¥5000万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AI+称重平台化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政策AI全景图+竞争MT已布局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技术方案设计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MVP试点3家客户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SaaS年费&gt;¥1000万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客户续费率&gt;80%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供应链成本对冲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钢材+22.5%/有色+38.9%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锁价60%钢材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国产替代电子元件30%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国产替代降至&lt;20%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毛利率稳定&gt;40%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出口借势一带一路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出口+18.7%+西部大开发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OIML认证启动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东南亚首单落地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海外营收&gt;10%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海外客户&gt;20家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抢占碳计量赛道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碳计量200+试点+蓝海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与山东/福建洽谈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样机+标准草案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首个商业项目落地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碳计量专利&gt;3项</a:t>
                      </a:r>
                    </a:p>
                  </a:txBody>
                  <a:tcPr/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视觉/机器人生态联盟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竞争+3C场景需求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确定联盟伙伴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联合方案发布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联合方案营收&gt;¥2000万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生态伙伴&gt;3家</a:t>
                      </a:r>
                    </a:p>
                  </a:txBody>
                  <a:tcPr>
                    <a:solidFill>
                      <a:srgbClr val="FAFCF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行业BU化组织变革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MT行业know-how壁垒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设3C/新能源BU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设化工/物流BU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每个BU营收&gt;¥5000万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50">
                          <a:solidFill>
                            <a:srgbClr val="1C2325"/>
                          </a:solidFill>
                        </a:defRPr>
                      </a:pPr>
                      <a:r>
                        <a:t>行业标杆&gt;10个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